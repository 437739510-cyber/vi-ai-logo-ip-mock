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jpe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31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09444" y="9144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840480"/>
            <a:ext cx="6281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陈记烧鹅店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2409444" y="4937760"/>
            <a:ext cx="2743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5212080"/>
            <a:ext cx="6281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>
                    <a:alpha val="95000"/>
                  </a:srgbClr>
                </a:solidFill>
              </a:rPr>
              <a:t>品牌视觉识别系统（VI）规范手册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5852160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FFFFFF">
                    <a:alpha val="80000"/>
                  </a:srgbClr>
                </a:solidFill>
              </a:rPr>
              <a:t>VISUAL IDENTITY GUIDELINES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9774936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</a:rPr>
              <a:t>陈记烧鹅店  ·  v1.0  ·  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10597896"/>
            <a:ext cx="7562088" cy="9144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1463040"/>
            <a:ext cx="6281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陈记烧鹅店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207008" y="1965960"/>
            <a:ext cx="13716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47088" y="237744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品牌核心理念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47088" y="237744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0296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47088" y="292608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标识诠释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47088" y="292608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0296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3474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47088" y="347472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Logo组合规范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47088" y="347472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40296" y="3474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07008" y="4023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47088" y="402336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LOGO网格制图规范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47088" y="402336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0296" y="4023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07008" y="4572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47088" y="457200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辅助图形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47088" y="457200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0296" y="4572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07008" y="5120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47088" y="512064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辅助图形禁用规范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847088" y="512064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0296" y="5120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07008" y="5669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847088" y="566928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标准色彩规范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847088" y="566928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0296" y="5669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07008" y="6217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847088" y="621792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色彩使用规范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847088" y="621792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40296" y="6217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8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07008" y="6766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847088" y="676656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字体系统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847088" y="676656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40296" y="6766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9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207008" y="7315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847088" y="731520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字体版权说明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847088" y="731520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40296" y="7315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10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207008" y="7863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847088" y="786384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基础规范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847088" y="786384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40296" y="7863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11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207008" y="8412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847088" y="841248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Logo误用规范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847088" y="841248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40296" y="8412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12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207008" y="8961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847088" y="896112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餐饮应用系统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847088" y="896112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940296" y="8961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13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207008" y="9509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1847088" y="950976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餐饮包装系统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847088" y="950976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940296" y="9509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14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207008" y="10058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847088" y="1005840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餐饮营销系统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1847088" y="1005840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940296" y="10058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15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1207008" y="11064240"/>
            <a:ext cx="2743200" cy="73152"/>
          </a:xfrm>
          <a:prstGeom prst="rect">
            <a:avLst/>
          </a:prstGeom>
          <a:solidFill>
            <a:srgbClr val="C62828">
              <a:alpha val="6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品牌核心理念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103120"/>
            <a:ext cx="1941576" cy="2560320"/>
          </a:xfrm>
          <a:prstGeom prst="rect">
            <a:avLst>
              <a:gd name="adj" fmla="val 3768"/>
            </a:avLst>
          </a:prstGeom>
          <a:solidFill>
            <a:srgbClr val="F8F8F8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2103120"/>
            <a:ext cx="1941576" cy="73152"/>
          </a:xfrm>
          <a:prstGeom prst="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377440"/>
            <a:ext cx="1575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品牌愿景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32688" y="2926080"/>
            <a:ext cx="15758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</a:rPr>
              <a:t>让每一口烧鹅都成为广州味道的记忆符号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19984" y="2103120"/>
            <a:ext cx="1941576" cy="2560320"/>
          </a:xfrm>
          <a:prstGeom prst="rect">
            <a:avLst>
              <a:gd name="adj" fmla="val 3768"/>
            </a:avLst>
          </a:prstGeom>
          <a:solidFill>
            <a:srgbClr val="F8F8F8"/>
          </a:solidFill>
          <a:ln/>
        </p:spPr>
      </p:sp>
      <p:sp>
        <p:nvSpPr>
          <p:cNvPr id="12" name="Shape 10"/>
          <p:cNvSpPr/>
          <p:nvPr/>
        </p:nvSpPr>
        <p:spPr>
          <a:xfrm>
            <a:off x="2919984" y="2103120"/>
            <a:ext cx="1941576" cy="73152"/>
          </a:xfrm>
          <a:prstGeom prst="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3102864" y="2377440"/>
            <a:ext cx="1575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核心价值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02864" y="2926080"/>
            <a:ext cx="15758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</a:rPr>
              <a:t>真材实料，古法秘制，三代传承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90160" y="2103120"/>
            <a:ext cx="1941576" cy="2560320"/>
          </a:xfrm>
          <a:prstGeom prst="rect">
            <a:avLst>
              <a:gd name="adj" fmla="val 3768"/>
            </a:avLst>
          </a:prstGeom>
          <a:solidFill>
            <a:srgbClr val="F8F8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090160" y="2103120"/>
            <a:ext cx="1941576" cy="73152"/>
          </a:xfrm>
          <a:prstGeom prst="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5273040" y="2377440"/>
            <a:ext cx="1575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目标市场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73040" y="2926080"/>
            <a:ext cx="15758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</a:rPr>
              <a:t>广州本地老饕、粤菜爱好者、寻找地道广式风味的游客及周边社区居民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" y="5029200"/>
            <a:ext cx="91440" cy="3657600"/>
          </a:xfrm>
          <a:prstGeom prst="rect">
            <a:avLst>
              <a:gd name="adj" fmla="val 30000"/>
            </a:avLst>
          </a:prstGeom>
          <a:solidFill>
            <a:srgbClr val="C62828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128" y="5029200"/>
            <a:ext cx="6007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品牌故事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24128" y="5486400"/>
            <a:ext cx="5824728" cy="4654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烧腊餐饮是粤菜核心品类，传统老店面临品牌化、年轻化升级需求；外卖与数字化渠道增长迅速，但消费者对‘正宗老广味道’的信任与情感联结仍是核心壁垒，陈记烧鹅店扎根餐饮行业，以"真材实料，古法秘制，三代传承"为核心价值，致力于为广州本地老饕、粤菜爱好者、寻找地道广式风味的游客及周边社区居民提供优质服务，让每一口烧鹅都成为广州味道的记忆符号，定位‘广州老城烧鹅专家’，以‘15年古法真味’为信任背书，通过传统中式视觉唤醒食客记忆，强化‘家楼下那个老味道’的温暖归属感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标识诠释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Shape 5"/>
          <p:cNvSpPr/>
          <p:nvPr/>
        </p:nvSpPr>
        <p:spPr>
          <a:xfrm>
            <a:off x="2318004" y="1371600"/>
            <a:ext cx="2926080" cy="2926080"/>
          </a:xfrm>
          <a:prstGeom prst="rect">
            <a:avLst>
              <a:gd name="adj" fmla="val 3125"/>
            </a:avLst>
          </a:prstGeom>
          <a:solidFill>
            <a:srgbClr val="F5F5F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00884" y="1554480"/>
            <a:ext cx="2560320" cy="2560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" y="4389120"/>
            <a:ext cx="54864" cy="320040"/>
          </a:xfrm>
          <a:prstGeom prst="rect">
            <a:avLst>
              <a:gd name="adj" fmla="val 33333"/>
            </a:avLst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设计理念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32688" y="4800600"/>
            <a:ext cx="591616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绕‘老广传承’核心，从印章、牌匾、烧鹅剪影、岭南窗花四个方向提炼视觉符号，确保传统、厚重、不落俗套。。核心元素：汉字‘陈记’为主，可辅以烧鹅轮廓、窗花纹理、印章边框。风格：传统中式，篆刻/书法/雕刻质感，避免卡通与Q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Logo组合规范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463040"/>
            <a:ext cx="3049524" cy="3108960"/>
          </a:xfrm>
          <a:prstGeom prst="rect">
            <a:avLst>
              <a:gd name="adj" fmla="val 299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2316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92808" y="1645920"/>
            <a:ext cx="163220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陈记烧鹅店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4160520"/>
            <a:ext cx="30495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</a:rPr>
              <a:t>横式组合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982212" y="1463040"/>
            <a:ext cx="3049524" cy="3108960"/>
          </a:xfrm>
          <a:prstGeom prst="rect">
            <a:avLst>
              <a:gd name="adj" fmla="val 299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319" y="1737360"/>
            <a:ext cx="875309" cy="8753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56532" y="2841269"/>
            <a:ext cx="2500884" cy="953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陈记烧鹅店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5006797" y="3636797"/>
            <a:ext cx="1000354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3982212" y="4160520"/>
            <a:ext cx="30495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</a:rPr>
              <a:t>竖式组合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49808" y="4709160"/>
            <a:ext cx="3049524" cy="3108960"/>
          </a:xfrm>
          <a:prstGeom prst="rect">
            <a:avLst>
              <a:gd name="adj" fmla="val 2999"/>
            </a:avLst>
          </a:prstGeom>
          <a:solidFill>
            <a:srgbClr val="C62828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915" y="4983480"/>
            <a:ext cx="875309" cy="87530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4128" y="6087389"/>
            <a:ext cx="2500884" cy="953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陈记烧鹅店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1774393" y="6882917"/>
            <a:ext cx="1000354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749808" y="7406640"/>
            <a:ext cx="30495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CCCC"/>
                </a:solidFill>
              </a:rPr>
              <a:t>反白稿（深底）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982212" y="4709160"/>
            <a:ext cx="3049524" cy="3108960"/>
          </a:xfrm>
          <a:prstGeom prst="rect">
            <a:avLst>
              <a:gd name="adj" fmla="val 299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319" y="4983480"/>
            <a:ext cx="875309" cy="87530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256532" y="6087389"/>
            <a:ext cx="2500884" cy="953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陈记烧鹅店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5006797" y="6882917"/>
            <a:ext cx="1000354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19"/>
          <p:cNvSpPr/>
          <p:nvPr/>
        </p:nvSpPr>
        <p:spPr>
          <a:xfrm>
            <a:off x="3982212" y="7406640"/>
            <a:ext cx="30495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</a:rPr>
              <a:t>单色稿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49808" y="7498080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Logo在不同背景和应用场景下应选用合适的组合形式，确保识别性与美观性。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LOGO网格制图规范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Shape 5"/>
          <p:cNvSpPr/>
          <p:nvPr/>
        </p:nvSpPr>
        <p:spPr>
          <a:xfrm>
            <a:off x="14813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1481328" y="13716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Text 7"/>
          <p:cNvSpPr/>
          <p:nvPr/>
        </p:nvSpPr>
        <p:spPr>
          <a:xfrm>
            <a:off x="1344168" y="6720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15568" y="126187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0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9385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" name="Shape 10"/>
          <p:cNvSpPr/>
          <p:nvPr/>
        </p:nvSpPr>
        <p:spPr>
          <a:xfrm>
            <a:off x="1481328" y="18288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23957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" name="Shape 12"/>
          <p:cNvSpPr/>
          <p:nvPr/>
        </p:nvSpPr>
        <p:spPr>
          <a:xfrm>
            <a:off x="1481328" y="22860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" name="Text 13"/>
          <p:cNvSpPr/>
          <p:nvPr/>
        </p:nvSpPr>
        <p:spPr>
          <a:xfrm>
            <a:off x="2258568" y="6720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20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115568" y="217627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20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8529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1481328" y="27432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9" name="Shape 17"/>
          <p:cNvSpPr/>
          <p:nvPr/>
        </p:nvSpPr>
        <p:spPr>
          <a:xfrm>
            <a:off x="33101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1481328" y="32004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Text 19"/>
          <p:cNvSpPr/>
          <p:nvPr/>
        </p:nvSpPr>
        <p:spPr>
          <a:xfrm>
            <a:off x="3172968" y="6720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40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115568" y="309067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40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767328" y="1371600"/>
            <a:ext cx="4572" cy="53035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Shape 22"/>
          <p:cNvSpPr/>
          <p:nvPr/>
        </p:nvSpPr>
        <p:spPr>
          <a:xfrm>
            <a:off x="1481328" y="3657600"/>
            <a:ext cx="4572000" cy="45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5" name="Shape 23"/>
          <p:cNvSpPr/>
          <p:nvPr/>
        </p:nvSpPr>
        <p:spPr>
          <a:xfrm>
            <a:off x="42245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6" name="Shape 24"/>
          <p:cNvSpPr/>
          <p:nvPr/>
        </p:nvSpPr>
        <p:spPr>
          <a:xfrm>
            <a:off x="1481328" y="41148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7" name="Text 25"/>
          <p:cNvSpPr/>
          <p:nvPr/>
        </p:nvSpPr>
        <p:spPr>
          <a:xfrm>
            <a:off x="4087368" y="6720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60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115568" y="400507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60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817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Shape 28"/>
          <p:cNvSpPr/>
          <p:nvPr/>
        </p:nvSpPr>
        <p:spPr>
          <a:xfrm>
            <a:off x="1481328" y="45720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1" name="Shape 29"/>
          <p:cNvSpPr/>
          <p:nvPr/>
        </p:nvSpPr>
        <p:spPr>
          <a:xfrm>
            <a:off x="51389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2" name="Shape 30"/>
          <p:cNvSpPr/>
          <p:nvPr/>
        </p:nvSpPr>
        <p:spPr>
          <a:xfrm>
            <a:off x="1481328" y="50292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3" name="Text 31"/>
          <p:cNvSpPr/>
          <p:nvPr/>
        </p:nvSpPr>
        <p:spPr>
          <a:xfrm>
            <a:off x="5001768" y="6720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80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15568" y="491947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80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5961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4"/>
          <p:cNvSpPr/>
          <p:nvPr/>
        </p:nvSpPr>
        <p:spPr>
          <a:xfrm>
            <a:off x="1481328" y="54864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7" name="Shape 35"/>
          <p:cNvSpPr/>
          <p:nvPr/>
        </p:nvSpPr>
        <p:spPr>
          <a:xfrm>
            <a:off x="60533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8" name="Shape 36"/>
          <p:cNvSpPr/>
          <p:nvPr/>
        </p:nvSpPr>
        <p:spPr>
          <a:xfrm>
            <a:off x="1481328" y="59436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Text 37"/>
          <p:cNvSpPr/>
          <p:nvPr/>
        </p:nvSpPr>
        <p:spPr>
          <a:xfrm>
            <a:off x="5916168" y="6720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100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15568" y="583387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100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630168" y="69951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X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24128" y="39136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Y</a:t>
            </a:r>
            <a:endParaRPr lang="en-US" sz="9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1528" y="3337560"/>
            <a:ext cx="1371600" cy="137160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481328" y="7269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</a:rPr>
              <a:t>Logo标准网格为10x10单位，LOGO居中对齐网格中心点。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481328" y="7543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</a:rPr>
              <a:t>网格制图确保LOGO在不同尺寸缩放时比例一致，笔画粗细统一。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辅助图形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99793"/>
            <a:ext cx="6281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</a:rPr>
              <a:t>主色中国红 (#C41E3A)，辅助色金色 (#D4A017)，强调色深棕 (#4A3728)，整体红金配衬托贵气与年代感。视觉风格为传统中式，篆刻/书法/雕刻质感，避免卡通与Q版，辅助图形与整体风格统一。条纹组合呼应品牌节奏感，点阵组合传递精致秩序。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4011473"/>
            <a:ext cx="3003804" cy="1645920"/>
          </a:xfrm>
          <a:prstGeom prst="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4011473"/>
            <a:ext cx="300380" cy="1645920"/>
          </a:xfrm>
          <a:prstGeom prst="rect">
            <a:avLst>
              <a:gd name="adj" fmla="val 6088"/>
            </a:avLst>
          </a:prstGeom>
          <a:solidFill>
            <a:srgbClr val="C6282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8923" y="4011473"/>
            <a:ext cx="300380" cy="1645920"/>
          </a:xfrm>
          <a:prstGeom prst="rect">
            <a:avLst>
              <a:gd name="adj" fmla="val 6088"/>
            </a:avLst>
          </a:prstGeom>
          <a:solidFill>
            <a:srgbClr val="F9A825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08038" y="4011473"/>
            <a:ext cx="300380" cy="1645920"/>
          </a:xfrm>
          <a:prstGeom prst="rect">
            <a:avLst>
              <a:gd name="adj" fmla="val 6088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37153" y="4011473"/>
            <a:ext cx="300380" cy="1645920"/>
          </a:xfrm>
          <a:prstGeom prst="rect">
            <a:avLst>
              <a:gd name="adj" fmla="val 6088"/>
            </a:avLst>
          </a:prstGeom>
          <a:solidFill>
            <a:srgbClr val="C6282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66267" y="4011473"/>
            <a:ext cx="300380" cy="1645920"/>
          </a:xfrm>
          <a:prstGeom prst="rect">
            <a:avLst>
              <a:gd name="adj" fmla="val 6088"/>
            </a:avLst>
          </a:prstGeom>
          <a:solidFill>
            <a:srgbClr val="F9A825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895382" y="4011473"/>
            <a:ext cx="300380" cy="1645920"/>
          </a:xfrm>
          <a:prstGeom prst="rect">
            <a:avLst>
              <a:gd name="adj" fmla="val 6088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24497" y="4011473"/>
            <a:ext cx="300380" cy="1645920"/>
          </a:xfrm>
          <a:prstGeom prst="rect">
            <a:avLst>
              <a:gd name="adj" fmla="val 6088"/>
            </a:avLst>
          </a:prstGeom>
          <a:solidFill>
            <a:srgbClr val="C62828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48833"/>
            <a:ext cx="30038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</a:rPr>
              <a:t>主辅助图形 — 条纹组合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27932" y="4011473"/>
            <a:ext cx="3003804" cy="1645920"/>
          </a:xfrm>
          <a:prstGeom prst="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4210812" y="4194353"/>
            <a:ext cx="228600" cy="228600"/>
          </a:xfrm>
          <a:prstGeom prst="ellipse">
            <a:avLst/>
          </a:prstGeom>
          <a:solidFill>
            <a:srgbClr val="C62828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713732" y="4194353"/>
            <a:ext cx="228600" cy="228600"/>
          </a:xfrm>
          <a:prstGeom prst="ellipse">
            <a:avLst/>
          </a:prstGeom>
          <a:solidFill>
            <a:srgbClr val="F9A825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216652" y="4194353"/>
            <a:ext cx="228600" cy="2286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719572" y="4194353"/>
            <a:ext cx="228600" cy="228600"/>
          </a:xfrm>
          <a:prstGeom prst="ellipse">
            <a:avLst/>
          </a:prstGeom>
          <a:solidFill>
            <a:srgbClr val="C62828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222492" y="4194353"/>
            <a:ext cx="228600" cy="228600"/>
          </a:xfrm>
          <a:prstGeom prst="ellipse">
            <a:avLst/>
          </a:prstGeom>
          <a:solidFill>
            <a:srgbClr val="F9A825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25412" y="4194353"/>
            <a:ext cx="228600" cy="2286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210812" y="4578401"/>
            <a:ext cx="228600" cy="228600"/>
          </a:xfrm>
          <a:prstGeom prst="ellipse">
            <a:avLst/>
          </a:prstGeom>
          <a:solidFill>
            <a:srgbClr val="F9A825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13732" y="4578401"/>
            <a:ext cx="228600" cy="2286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216652" y="4578401"/>
            <a:ext cx="228600" cy="228600"/>
          </a:xfrm>
          <a:prstGeom prst="ellipse">
            <a:avLst/>
          </a:prstGeom>
          <a:solidFill>
            <a:srgbClr val="C62828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719572" y="4578401"/>
            <a:ext cx="228600" cy="228600"/>
          </a:xfrm>
          <a:prstGeom prst="ellipse">
            <a:avLst/>
          </a:prstGeom>
          <a:solidFill>
            <a:srgbClr val="F9A825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222492" y="4578401"/>
            <a:ext cx="228600" cy="2286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725412" y="4578401"/>
            <a:ext cx="228600" cy="228600"/>
          </a:xfrm>
          <a:prstGeom prst="ellipse">
            <a:avLst/>
          </a:prstGeom>
          <a:solidFill>
            <a:srgbClr val="C62828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10812" y="4962449"/>
            <a:ext cx="228600" cy="2286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713732" y="4962449"/>
            <a:ext cx="228600" cy="228600"/>
          </a:xfrm>
          <a:prstGeom prst="ellipse">
            <a:avLst/>
          </a:prstGeom>
          <a:solidFill>
            <a:srgbClr val="C62828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216652" y="4962449"/>
            <a:ext cx="228600" cy="228600"/>
          </a:xfrm>
          <a:prstGeom prst="ellipse">
            <a:avLst/>
          </a:prstGeom>
          <a:solidFill>
            <a:srgbClr val="F9A825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719572" y="4962449"/>
            <a:ext cx="228600" cy="2286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22492" y="4962449"/>
            <a:ext cx="228600" cy="228600"/>
          </a:xfrm>
          <a:prstGeom prst="ellipse">
            <a:avLst/>
          </a:prstGeom>
          <a:solidFill>
            <a:srgbClr val="C62828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725412" y="4962449"/>
            <a:ext cx="228600" cy="228600"/>
          </a:xfrm>
          <a:prstGeom prst="ellipse">
            <a:avLst/>
          </a:prstGeom>
          <a:solidFill>
            <a:srgbClr val="F9A825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210812" y="5346497"/>
            <a:ext cx="228600" cy="228600"/>
          </a:xfrm>
          <a:prstGeom prst="ellipse">
            <a:avLst/>
          </a:prstGeom>
          <a:solidFill>
            <a:srgbClr val="C62828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713732" y="5346497"/>
            <a:ext cx="228600" cy="228600"/>
          </a:xfrm>
          <a:prstGeom prst="ellipse">
            <a:avLst/>
          </a:prstGeom>
          <a:solidFill>
            <a:srgbClr val="F9A825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16652" y="5346497"/>
            <a:ext cx="228600" cy="2286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9572" y="5346497"/>
            <a:ext cx="228600" cy="228600"/>
          </a:xfrm>
          <a:prstGeom prst="ellipse">
            <a:avLst/>
          </a:prstGeom>
          <a:solidFill>
            <a:srgbClr val="C62828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22492" y="5346497"/>
            <a:ext cx="228600" cy="228600"/>
          </a:xfrm>
          <a:prstGeom prst="ellipse">
            <a:avLst/>
          </a:prstGeom>
          <a:solidFill>
            <a:srgbClr val="F9A825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725412" y="5346497"/>
            <a:ext cx="228600" cy="2286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027932" y="5748833"/>
            <a:ext cx="30038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</a:rPr>
              <a:t>次辅助图形 — 点阵组合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9808" y="6206033"/>
            <a:ext cx="6281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应用场景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32688" y="7245706"/>
            <a:ext cx="5916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1. 文档/手册页眉装饰线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2. 包装袋底部纹样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3. 名片背面背景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4. 社交媒体封面装饰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5. 店铺墙面装饰纹样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49808" y="8788298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辅助图形可按比例缩放，但不可改变比例关系或旋转角度。建议透明度使用10%-40%。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辅助图形禁用规范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71600"/>
            <a:ext cx="109728" cy="137160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141732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3333"/>
                </a:solidFill>
              </a:rPr>
              <a:t>✕ 禁止拉伸变形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9848" y="182880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不得对辅助图形进行非等比缩放，纹样比例失真破坏品牌精致感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" y="2926080"/>
            <a:ext cx="109728" cy="137160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297180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3333"/>
                </a:solidFill>
              </a:rPr>
              <a:t>✕ 禁止局部裁切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9848" y="338328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不得单独裁切辅助图形的局部纹样，需保持完整图案结构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4480560"/>
            <a:ext cx="109728" cy="137160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848" y="452628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3333"/>
                </a:solidFill>
              </a:rPr>
              <a:t>✕ 禁止随意换色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69848" y="493776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不得使用品牌色以外的颜色替换辅助图形，破坏色彩体系一致性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" y="6035040"/>
            <a:ext cx="109728" cy="137160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069848" y="608076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3333"/>
                </a:solidFill>
              </a:rPr>
              <a:t>✕ 禁止多层杂乱叠加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69848" y="649224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辅助图形叠加不超过两层，避免视觉混乱降低品牌识别度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" y="7589520"/>
            <a:ext cx="109728" cy="137160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20" name="Text 18"/>
          <p:cNvSpPr/>
          <p:nvPr/>
        </p:nvSpPr>
        <p:spPr>
          <a:xfrm>
            <a:off x="1069848" y="763524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3333"/>
                </a:solidFill>
              </a:rPr>
              <a:t>✕ 禁止旋转倾斜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69848" y="804672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条纹组合必须保持水平/垂直方向，点阵组合不得旋转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" y="9144000"/>
            <a:ext cx="109728" cy="137160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23" name="Text 21"/>
          <p:cNvSpPr/>
          <p:nvPr/>
        </p:nvSpPr>
        <p:spPr>
          <a:xfrm>
            <a:off x="1069848" y="918972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3333"/>
                </a:solidFill>
              </a:rPr>
              <a:t>✕ 禁止扭曲特效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69848" y="960120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不得添加非规范的扭曲、模糊、3D等滤镜效果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" y="9601200"/>
            <a:ext cx="6281928" cy="548640"/>
          </a:xfrm>
          <a:prstGeom prst="rect">
            <a:avLst>
              <a:gd name="adj" fmla="val 10000"/>
            </a:avLst>
          </a:prstGeom>
          <a:solidFill>
            <a:srgbClr val="FFF3E0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9692640"/>
            <a:ext cx="5916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</a:rPr>
              <a:t>辅助图形是品牌视觉的延伸，规范使用确保品牌调性统一。以上为常见的错误用法，门店及设计师应严格避免。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色彩使用规范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71600"/>
            <a:ext cx="109728" cy="137160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141732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⚠ 主色禁用大面积铺满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9848" y="182880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玫瑰红 #C62828 仅作点缀色（LOGO、装饰线、强调文字），占画面比例不超过20%。大面积红色产生压迫感，与「温柔治愈」品牌调性冲突。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" y="2926080"/>
            <a:ext cx="109728" cy="137160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297180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📐 三色搭配比例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9848" y="338328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主色 10-25% / 辅助色 15-30% / 背景留白 50-70%。保持视觉呼吸感与层次。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4480560"/>
            <a:ext cx="109728" cy="137160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848" y="452628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🚫 禁止搭配色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69848" y="493776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避免与高饱和度绿色、荧光色、纯黑 #000000 混搭，破坏品牌温柔轻奢质感。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" y="6035040"/>
            <a:ext cx="109728" cy="137160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069848" y="608076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🖨 单色印刷规范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69848" y="649224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黑白/单色印刷时使用灰度版本，保留品牌色明度阶梯。主色→70%灰、辅助色→50%灰、强调色→30%灰。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" y="7315200"/>
            <a:ext cx="6281928" cy="548640"/>
          </a:xfrm>
          <a:prstGeom prst="rect">
            <a:avLst>
              <a:gd name="adj" fmla="val 10000"/>
            </a:avLst>
          </a:prstGeom>
          <a:solidFill>
            <a:srgbClr val="FFF3E0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7406640"/>
            <a:ext cx="5916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</a:rPr>
              <a:t>色彩规范的核心原则：温柔不刺眼，精致不廉价。如有特殊场景色彩需求，须向品牌总部提交审核。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字体版权说明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463040"/>
            <a:ext cx="109728" cy="128016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508760"/>
            <a:ext cx="5916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思源黑体 / Noto Sans SC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1920240"/>
            <a:ext cx="5916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</a:rPr>
              <a:t>许可协议：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SIL Open Font License 1.1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240280"/>
            <a:ext cx="5916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商用状态：</a:t>
            </a:r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</a:rPr>
              <a:t>免费商用 — 由Google与Adobe联合发布的开源字体，无需额外授权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560320"/>
            <a:ext cx="5916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结论：以上字体均可免费商用，无需额外授权。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" y="3291840"/>
            <a:ext cx="109728" cy="128016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337560"/>
            <a:ext cx="5916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思源宋体 / Noto Serif SC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24128" y="3749040"/>
            <a:ext cx="5916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</a:rPr>
              <a:t>许可协议：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SIL Open Font License 1.1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4069080"/>
            <a:ext cx="5916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商用状态：</a:t>
            </a:r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</a:rPr>
              <a:t>免费商用 — 由Google与Adobe联合发布的开源字体，无需额外授权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4389120"/>
            <a:ext cx="5916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结论：以上字体均可免费商用，无需额外授权。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" y="5120640"/>
            <a:ext cx="109728" cy="128016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5166360"/>
            <a:ext cx="5916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Montserrat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5577840"/>
            <a:ext cx="5916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</a:rPr>
              <a:t>许可协议：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SIL Open Font License 1.1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5897880"/>
            <a:ext cx="5916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商用状态：</a:t>
            </a:r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</a:rPr>
              <a:t>免费商用 — 经典几何无衬线英文字体，Google Fonts开源项目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4128" y="6217920"/>
            <a:ext cx="5916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结论：以上字体均可免费商用，无需额外授权。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" y="6949440"/>
            <a:ext cx="109728" cy="128016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6995160"/>
            <a:ext cx="5916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Open Sans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4128" y="7406640"/>
            <a:ext cx="5916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</a:rPr>
              <a:t>许可协议：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Apache License 2.0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24128" y="7726680"/>
            <a:ext cx="5916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商用状态：</a:t>
            </a:r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</a:rPr>
              <a:t>免费商用 — 高可读性人文主义英文字体，适用于正文排版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24128" y="8046720"/>
            <a:ext cx="5916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结论：以上字体均可免费商用，无需额外授权。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" y="9052560"/>
            <a:ext cx="6281928" cy="731520"/>
          </a:xfrm>
          <a:prstGeom prst="rect">
            <a:avLst>
              <a:gd name="adj" fmla="val 10000"/>
            </a:avLst>
          </a:prstGeom>
          <a:solidFill>
            <a:srgbClr val="FFF3E0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9144000"/>
            <a:ext cx="5916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⚠ 重要提示：</a:t>
            </a:r>
            <a:pPr indent="0" marL="0">
              <a:buNone/>
            </a:pPr>
            <a:r>
              <a:rPr lang="en-US" sz="1200" dirty="0">
                <a:solidFill>
                  <a:srgbClr val="E65100"/>
                </a:solidFill>
              </a:rPr>
              <a:t>禁止在商业物料中使用未经授权的商业字体（如微软雅黑、方正系列等），否则可能面临字体版权侵权诉讼。本VI手册所列字体均已确认为免费商用字体。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基础规范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63040"/>
            <a:ext cx="6281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</a:rPr>
              <a:t>LOGO 保护空间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1920240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LOGO 四周保留至少 15% 保护空间，不可被任何元素遮挡或裁切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80844" y="2240280"/>
            <a:ext cx="3200400" cy="3200400"/>
          </a:xfrm>
          <a:prstGeom prst="rect">
            <a:avLst>
              <a:gd name="adj" fmla="val 142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dash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00884" y="2560320"/>
            <a:ext cx="2560320" cy="2560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80844" y="5257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15% 保护空间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9808" y="5943600"/>
            <a:ext cx="6281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</a:rPr>
              <a:t>最小尺寸规范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6492240"/>
          <a:ext cx="6281928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80720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应用场景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最小宽度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印刷品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30mm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名片/信封等印刷物料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数字媒体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80px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网站/App 等数字媒介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户外广告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200mm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广告牌/展架等大尺寸场景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Logo使用规范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71600"/>
            <a:ext cx="1956816" cy="2194560"/>
          </a:xfrm>
          <a:prstGeom prst="rect">
            <a:avLst>
              <a:gd name="adj" fmla="val 46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5000" b="-75000"/>
          <a:stretch/>
        </p:blipFill>
        <p:spPr>
          <a:xfrm>
            <a:off x="921029" y="1508760"/>
            <a:ext cx="1076249" cy="10762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✕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49808" y="297180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禁止拉伸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1248" y="310896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不得对Logo进行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非等比缩放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35224" y="1371600"/>
            <a:ext cx="1956816" cy="2194560"/>
          </a:xfrm>
          <a:prstGeom prst="rect">
            <a:avLst>
              <a:gd name="adj" fmla="val 46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 rot="1500000">
            <a:off x="3375508" y="1508760"/>
            <a:ext cx="1076249" cy="10762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35224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✕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935224" y="297180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禁止旋转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026664" y="310896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不得旋转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Logo角度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120640" y="1371600"/>
            <a:ext cx="1956816" cy="2194560"/>
          </a:xfrm>
          <a:prstGeom prst="rect">
            <a:avLst>
              <a:gd name="adj" fmla="val 46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60924" y="1508760"/>
            <a:ext cx="1076249" cy="1076249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560924" y="1508760"/>
            <a:ext cx="1076249" cy="1076249"/>
          </a:xfrm>
          <a:prstGeom prst="rect">
            <a:avLst/>
          </a:prstGeom>
          <a:solidFill>
            <a:srgbClr val="9900FF">
              <a:alpha val="50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51206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✕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5120640" y="297180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禁止换色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212080" y="310896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不得使用非标准色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替换Logo颜色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49808" y="3931920"/>
            <a:ext cx="1956816" cy="2194560"/>
          </a:xfrm>
          <a:prstGeom prst="rect">
            <a:avLst>
              <a:gd name="adj" fmla="val 46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144372" y="4023360"/>
            <a:ext cx="1167689" cy="1167689"/>
          </a:xfrm>
          <a:prstGeom prst="rect">
            <a:avLst/>
          </a:prstGeom>
          <a:ln w="38100">
            <a:solidFill>
              <a:srgbClr val="FF660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90092" y="4069080"/>
            <a:ext cx="1076249" cy="107624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9808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✕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749808" y="553212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禁止描边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841248" y="56692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不得给Logo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添加描边效果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2935224" y="3931920"/>
            <a:ext cx="1956816" cy="2194560"/>
          </a:xfrm>
          <a:prstGeom prst="rect">
            <a:avLst>
              <a:gd name="adj" fmla="val 46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375508" y="4069080"/>
            <a:ext cx="1076249" cy="1076249"/>
          </a:xfrm>
          <a:prstGeom prst="rect">
            <a:avLst/>
          </a:prstGeom>
          <a:effectLst>
            <a:outerShdw sx="100000" sy="100000" kx="0" ky="0" algn="bl" rotWithShape="0" blurRad="190500" dist="63500" dir="16200000">
              <a:srgbClr val="000000">
                <a:alpha val="60000"/>
              </a:srgbClr>
            </a:outerShdw>
          </a:effectLst>
        </p:spPr>
      </p:pic>
      <p:sp>
        <p:nvSpPr>
          <p:cNvPr id="31" name="Text 24"/>
          <p:cNvSpPr/>
          <p:nvPr/>
        </p:nvSpPr>
        <p:spPr>
          <a:xfrm>
            <a:off x="2935224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✕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2935224" y="553212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禁止加阴影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3026664" y="56692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不得添加非规范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投影效果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120640" y="3931920"/>
            <a:ext cx="1956816" cy="2194560"/>
          </a:xfrm>
          <a:prstGeom prst="rect">
            <a:avLst>
              <a:gd name="adj" fmla="val 46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560924" y="4069080"/>
            <a:ext cx="1076249" cy="1076249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560924" y="4391955"/>
            <a:ext cx="1076249" cy="538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66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陈记烧鹅店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512064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✕</a:t>
            </a:r>
            <a:endParaRPr lang="en-US" sz="2000" dirty="0"/>
          </a:p>
        </p:txBody>
      </p:sp>
      <p:sp>
        <p:nvSpPr>
          <p:cNvPr id="38" name="Text 30"/>
          <p:cNvSpPr/>
          <p:nvPr/>
        </p:nvSpPr>
        <p:spPr>
          <a:xfrm>
            <a:off x="5120640" y="553212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禁止改字体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5212080" y="56692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不得更改Logo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中的字体样式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749808" y="6400800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以上误用方式将严重损害品牌形象，所有应用必须严格遵守本规范。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餐饮应用系统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280160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品牌在餐饮场景中的标准化应用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1645920"/>
            <a:ext cx="6007608" cy="4754880"/>
          </a:xfrm>
          <a:prstGeom prst="rect">
            <a:avLst>
              <a:gd name="adj" fmla="val 1538"/>
            </a:avLst>
          </a:prstGeom>
          <a:solidFill>
            <a:srgbClr val="F8F8F8"/>
          </a:solidFill>
          <a:ln/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645920"/>
            <a:ext cx="6007608" cy="4754880"/>
          </a:xfrm>
          <a:prstGeom prst="ellipse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0" r="0" t="0" b="0"/>
          <a:stretch/>
        </p:blipFill>
        <p:spPr>
          <a:xfrm>
            <a:off x="6163056" y="5806440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49808" y="6327648"/>
            <a:ext cx="6007608" cy="73152"/>
          </a:xfrm>
          <a:prstGeom prst="rect">
            <a:avLst/>
          </a:prstGeom>
          <a:solidFill>
            <a:srgbClr val="C62828">
              <a:alpha val="7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6537960"/>
            <a:ext cx="6007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名片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9808" y="6995160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以上为品牌视觉氛围示意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餐饮包装系统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280160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外卖与打包物料的品牌化呈现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1645920"/>
            <a:ext cx="6007608" cy="4754880"/>
          </a:xfrm>
          <a:prstGeom prst="rect">
            <a:avLst>
              <a:gd name="adj" fmla="val 1538"/>
            </a:avLst>
          </a:prstGeom>
          <a:solidFill>
            <a:srgbClr val="F8F8F8"/>
          </a:solidFill>
          <a:ln/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645920"/>
            <a:ext cx="6007608" cy="4754880"/>
          </a:xfrm>
          <a:prstGeom prst="ellipse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0" r="0" t="0" b="0"/>
          <a:stretch/>
        </p:blipFill>
        <p:spPr>
          <a:xfrm>
            <a:off x="6163056" y="5806440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49808" y="6327648"/>
            <a:ext cx="6007608" cy="73152"/>
          </a:xfrm>
          <a:prstGeom prst="rect">
            <a:avLst/>
          </a:prstGeom>
          <a:solidFill>
            <a:srgbClr val="C62828">
              <a:alpha val="7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6537960"/>
            <a:ext cx="6007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外卖包装袋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9808" y="6995160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以上为品牌视觉氛围示意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餐饮营销系统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280160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店内宣传与客户触达物料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1645920"/>
            <a:ext cx="3003804" cy="4754880"/>
          </a:xfrm>
          <a:prstGeom prst="rect">
            <a:avLst>
              <a:gd name="adj" fmla="val 2435"/>
            </a:avLst>
          </a:prstGeom>
          <a:solidFill>
            <a:srgbClr val="F8F8F8"/>
          </a:solidFill>
          <a:ln/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645920"/>
            <a:ext cx="3003804" cy="4754880"/>
          </a:xfrm>
          <a:prstGeom prst="ellipse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0" r="0" t="0" b="0"/>
          <a:stretch/>
        </p:blipFill>
        <p:spPr>
          <a:xfrm>
            <a:off x="3159252" y="5806440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49808" y="6327648"/>
            <a:ext cx="3003804" cy="73152"/>
          </a:xfrm>
          <a:prstGeom prst="rect">
            <a:avLst/>
          </a:prstGeom>
          <a:solidFill>
            <a:srgbClr val="C62828">
              <a:alpha val="7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6537960"/>
            <a:ext cx="30038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门头招牌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027932" y="1645920"/>
            <a:ext cx="3003804" cy="4754880"/>
          </a:xfrm>
          <a:prstGeom prst="rect">
            <a:avLst>
              <a:gd name="adj" fmla="val 2435"/>
            </a:avLst>
          </a:prstGeom>
          <a:solidFill>
            <a:srgbClr val="F8F8F8"/>
          </a:solidFill>
          <a:ln/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27932" y="1645920"/>
            <a:ext cx="3003804" cy="4754880"/>
          </a:xfrm>
          <a:prstGeom prst="ellipse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rcRect l="0" r="0" t="0" b="0"/>
          <a:stretch/>
        </p:blipFill>
        <p:spPr>
          <a:xfrm>
            <a:off x="6437376" y="5806440"/>
            <a:ext cx="45720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027932" y="6327648"/>
            <a:ext cx="3003804" cy="73152"/>
          </a:xfrm>
          <a:prstGeom prst="rect">
            <a:avLst/>
          </a:prstGeom>
          <a:solidFill>
            <a:srgbClr val="C62828">
              <a:alpha val="7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4027932" y="6537960"/>
            <a:ext cx="30038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菜单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49808" y="6995160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以上为品牌视觉氛围示意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导视系统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463040"/>
            <a:ext cx="1972056" cy="5029200"/>
          </a:xfrm>
          <a:prstGeom prst="rect">
            <a:avLst>
              <a:gd name="adj" fmla="val 4637"/>
            </a:avLst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463040"/>
            <a:ext cx="1972056" cy="73152"/>
          </a:xfrm>
          <a:prstGeom prst="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1645920"/>
            <a:ext cx="1697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🏪 门头招牌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6968" y="2148840"/>
            <a:ext cx="1697736" cy="2743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rcRect l="0" r="0" t="0" b="0"/>
          <a:stretch/>
        </p:blipFill>
        <p:spPr>
          <a:xfrm>
            <a:off x="886968" y="228600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6968" y="2971800"/>
            <a:ext cx="169773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位置：门店正上方居中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尺寸：宽高比建议 3:1 至 5:1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材质：亚克力发光字 / 金属字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配色：品牌主色底+白色字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照明：内置LED灯带，色温3000K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Logo置于招牌左上角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904744" y="1463040"/>
            <a:ext cx="1972056" cy="5029200"/>
          </a:xfrm>
          <a:prstGeom prst="rect">
            <a:avLst>
              <a:gd name="adj" fmla="val 4637"/>
            </a:avLst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04744" y="1463040"/>
            <a:ext cx="1972056" cy="73152"/>
          </a:xfrm>
          <a:prstGeom prst="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5" name="Text 12"/>
          <p:cNvSpPr/>
          <p:nvPr/>
        </p:nvSpPr>
        <p:spPr>
          <a:xfrm>
            <a:off x="3041904" y="1645920"/>
            <a:ext cx="1697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🧭 室内指示牌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041904" y="2148840"/>
            <a:ext cx="1697736" cy="2743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rcRect l="0" r="0" t="0" b="0"/>
          <a:stretch/>
        </p:blipFill>
        <p:spPr>
          <a:xfrm>
            <a:off x="3041904" y="228600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041904" y="2971800"/>
            <a:ext cx="169773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楼层牌：电梯口上方30cm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房间号：门右侧墙面，高度1.5m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尺寸：楼层牌 30×15cm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房间牌 20×10cm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材质：亚克力/拉丝金属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字体：思源黑体 Bold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59680" y="1463040"/>
            <a:ext cx="1972056" cy="5029200"/>
          </a:xfrm>
          <a:prstGeom prst="rect">
            <a:avLst>
              <a:gd name="adj" fmla="val 4637"/>
            </a:avLst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059680" y="1463040"/>
            <a:ext cx="1972056" cy="73152"/>
          </a:xfrm>
          <a:prstGeom prst="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21" name="Text 17"/>
          <p:cNvSpPr/>
          <p:nvPr/>
        </p:nvSpPr>
        <p:spPr>
          <a:xfrm>
            <a:off x="5196840" y="1645920"/>
            <a:ext cx="1697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💳 收银台标识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5196840" y="2148840"/>
            <a:ext cx="1697736" cy="2743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rcRect l="0" r="0" t="0" b="0"/>
          <a:stretch/>
        </p:blipFill>
        <p:spPr>
          <a:xfrm>
            <a:off x="5196840" y="228600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96840" y="2971800"/>
            <a:ext cx="169773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位置：收银台正前方或上方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尺寸：40×15cm 横式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内容：品牌名 + 收银/服务台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材质：亚克力UV印刷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配色：主色底+白色字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可增加品牌辅助图形底纹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49808" y="6720840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导视系统是品牌在物理空间中的重要触点，统一规范的导视设计提升门店专业度与客户体验。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总结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463040"/>
            <a:ext cx="6281928" cy="1280160"/>
          </a:xfrm>
          <a:prstGeom prst="rect">
            <a:avLst>
              <a:gd name="adj" fmla="val 7143"/>
            </a:avLst>
          </a:prstGeom>
          <a:solidFill>
            <a:srgbClr val="FFA0A0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554480"/>
            <a:ext cx="57332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8A0000"/>
                </a:solidFill>
              </a:rPr>
              <a:t>"让每一口烧鹅都成为广州味道的记忆符号"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32688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72768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</a:rPr>
              <a:t>一致性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72768" y="3657600"/>
            <a:ext cx="5276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所有媒介输出必须严格遵守本手册规范，确保品牌在任何触点下都能被精准识别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2688" y="4663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72768" y="4663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</a:rPr>
              <a:t>专业性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72768" y="5120640"/>
            <a:ext cx="5276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通过标准化的视觉语言建立客户信任，展现品牌作为行业专家的专业形象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2688" y="6126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72768" y="6126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</a:rPr>
              <a:t>持续性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72768" y="6583680"/>
            <a:ext cx="5276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VI 系统是品牌长期发展的核心无形资产，是品牌价值持续积累的视觉载体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VI物料落地清单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280160"/>
            <a:ext cx="228600" cy="228600"/>
          </a:xfrm>
          <a:prstGeom prst="rect">
            <a:avLst>
              <a:gd name="adj" fmla="val 16000"/>
            </a:avLst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1280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必做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47088" y="1280160"/>
            <a:ext cx="228600" cy="228600"/>
          </a:xfrm>
          <a:prstGeom prst="rect">
            <a:avLst>
              <a:gd name="adj" fmla="val 16000"/>
            </a:avLst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2167128" y="1280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建议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44368" y="1280160"/>
            <a:ext cx="228600" cy="228600"/>
          </a:xfrm>
          <a:prstGeom prst="rect">
            <a:avLst>
              <a:gd name="adj" fmla="val 16000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1280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可选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" y="1600200"/>
            <a:ext cx="6281928" cy="3657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1600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优先级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81328" y="1600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物料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44368" y="1600200"/>
            <a:ext cx="4270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说明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" y="1965960"/>
            <a:ext cx="6281928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2039112"/>
            <a:ext cx="548640" cy="310896"/>
          </a:xfrm>
          <a:prstGeom prst="rect">
            <a:avLst>
              <a:gd name="adj" fmla="val 17647"/>
            </a:avLst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20391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必做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27048" y="20391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门头招牌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90088" y="20391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门头招牌+侧招灯箱，品牌线下第一视觉触点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9808" y="2423160"/>
            <a:ext cx="6281928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496312"/>
            <a:ext cx="548640" cy="310896"/>
          </a:xfrm>
          <a:prstGeom prst="rect">
            <a:avLst>
              <a:gd name="adj" fmla="val 17647"/>
            </a:avLst>
          </a:prstGeom>
          <a:solidFill>
            <a:srgbClr val="C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24963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必做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27048" y="24963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员工工服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90088" y="24963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厨师服+服务员围裙+工牌，统一门店形象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" y="2880360"/>
            <a:ext cx="6281928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2953512"/>
            <a:ext cx="548640" cy="310896"/>
          </a:xfrm>
          <a:prstGeom prst="rect">
            <a:avLst>
              <a:gd name="adj" fmla="val 17647"/>
            </a:avLst>
          </a:prstGeom>
          <a:solidFill>
            <a:srgbClr val="C62828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29535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必做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27048" y="29535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菜单价目表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90088" y="29535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店内点餐菜单+价目牌，核心消费触点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9808" y="3337560"/>
            <a:ext cx="6281928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410712"/>
            <a:ext cx="548640" cy="310896"/>
          </a:xfrm>
          <a:prstGeom prst="rect">
            <a:avLst>
              <a:gd name="adj" fmla="val 17647"/>
            </a:avLst>
          </a:prstGeom>
          <a:solidFill>
            <a:srgbClr val="C62828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34107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必做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527048" y="34107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打包包装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990088" y="34107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打包袋+餐盒+筷子套+外卖贴纸，外带场景品牌露出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" y="3794760"/>
            <a:ext cx="6281928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" y="3867912"/>
            <a:ext cx="548640" cy="310896"/>
          </a:xfrm>
          <a:prstGeom prst="rect">
            <a:avLst>
              <a:gd name="adj" fmla="val 17647"/>
            </a:avLst>
          </a:prstGeom>
          <a:solidFill>
            <a:srgbClr val="E67E22"/>
          </a:solidFill>
          <a:ln/>
        </p:spPr>
      </p:sp>
      <p:sp>
        <p:nvSpPr>
          <p:cNvPr id="39" name="Text 37"/>
          <p:cNvSpPr/>
          <p:nvPr/>
        </p:nvSpPr>
        <p:spPr>
          <a:xfrm>
            <a:off x="841248" y="38679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建议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527048" y="38679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纸巾盒/桌牌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990088" y="38679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桌面物料，提升就餐体验与品牌感知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9808" y="4251960"/>
            <a:ext cx="6281928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1248" y="4325112"/>
            <a:ext cx="548640" cy="310896"/>
          </a:xfrm>
          <a:prstGeom prst="rect">
            <a:avLst>
              <a:gd name="adj" fmla="val 17647"/>
            </a:avLst>
          </a:prstGeom>
          <a:solidFill>
            <a:srgbClr val="E67E22"/>
          </a:solidFill>
          <a:ln/>
        </p:spPr>
      </p:sp>
      <p:sp>
        <p:nvSpPr>
          <p:cNvPr id="44" name="Text 42"/>
          <p:cNvSpPr/>
          <p:nvPr/>
        </p:nvSpPr>
        <p:spPr>
          <a:xfrm>
            <a:off x="841248" y="43251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建议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527048" y="43251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会员储值卡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990088" y="43251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VIP卡片设计，客户留存与复购核心触点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49808" y="4709160"/>
            <a:ext cx="6281928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1248" y="4782312"/>
            <a:ext cx="548640" cy="310896"/>
          </a:xfrm>
          <a:prstGeom prst="rect">
            <a:avLst>
              <a:gd name="adj" fmla="val 17647"/>
            </a:avLst>
          </a:prstGeom>
          <a:solidFill>
            <a:srgbClr val="E67E22"/>
          </a:solidFill>
          <a:ln/>
        </p:spPr>
      </p:sp>
      <p:sp>
        <p:nvSpPr>
          <p:cNvPr id="49" name="Text 47"/>
          <p:cNvSpPr/>
          <p:nvPr/>
        </p:nvSpPr>
        <p:spPr>
          <a:xfrm>
            <a:off x="841248" y="47823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建议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527048" y="47823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手提袋/礼盒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990088" y="47823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伴手礼包装，社交传播重要载体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9808" y="5166360"/>
            <a:ext cx="6281928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1248" y="5239512"/>
            <a:ext cx="548640" cy="310896"/>
          </a:xfrm>
          <a:prstGeom prst="rect">
            <a:avLst>
              <a:gd name="adj" fmla="val 17647"/>
            </a:avLst>
          </a:prstGeom>
          <a:solidFill>
            <a:srgbClr val="2E7D32"/>
          </a:solidFill>
          <a:ln/>
        </p:spPr>
      </p:sp>
      <p:sp>
        <p:nvSpPr>
          <p:cNvPr id="54" name="Text 52"/>
          <p:cNvSpPr/>
          <p:nvPr/>
        </p:nvSpPr>
        <p:spPr>
          <a:xfrm>
            <a:off x="841248" y="52395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可选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527048" y="52395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活动海报/展架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990088" y="52395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开业/促销按需制作，非日常必备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49808" y="5623560"/>
            <a:ext cx="6281928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1248" y="5696712"/>
            <a:ext cx="548640" cy="310896"/>
          </a:xfrm>
          <a:prstGeom prst="rect">
            <a:avLst>
              <a:gd name="adj" fmla="val 17647"/>
            </a:avLst>
          </a:prstGeom>
          <a:solidFill>
            <a:srgbClr val="2E7D32"/>
          </a:solidFill>
          <a:ln/>
        </p:spPr>
      </p:sp>
      <p:sp>
        <p:nvSpPr>
          <p:cNvPr id="59" name="Text 57"/>
          <p:cNvSpPr/>
          <p:nvPr/>
        </p:nvSpPr>
        <p:spPr>
          <a:xfrm>
            <a:off x="841248" y="56967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可选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527048" y="56967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明档标识/灯箱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990088" y="56967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明档厨房标识+菜品灯箱展示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49808" y="6080760"/>
            <a:ext cx="6281928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1248" y="6153912"/>
            <a:ext cx="548640" cy="310896"/>
          </a:xfrm>
          <a:prstGeom prst="rect">
            <a:avLst>
              <a:gd name="adj" fmla="val 17647"/>
            </a:avLst>
          </a:prstGeom>
          <a:solidFill>
            <a:srgbClr val="2E7D32"/>
          </a:solidFill>
          <a:ln/>
        </p:spPr>
      </p:sp>
      <p:sp>
        <p:nvSpPr>
          <p:cNvPr id="64" name="Text 62"/>
          <p:cNvSpPr/>
          <p:nvPr/>
        </p:nvSpPr>
        <p:spPr>
          <a:xfrm>
            <a:off x="841248" y="61539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可选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527048" y="61539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导视系统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990088" y="61539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门牌/指引立牌/洗手间标识，连锁扩张时统一制作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49808" y="6720840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门店分批落地建议：首批完成必做物料，第二批补齐建议物料，第三批按需扩展可选物料。具体清单根据行业动态配置。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LOGO文件输出规范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71600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LOGO文件交付格式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1920240"/>
            <a:ext cx="6281928" cy="320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文件格式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21408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适用场景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07408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文件命名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" y="2240280"/>
            <a:ext cx="6281928" cy="32004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240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AI矢量文件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21408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印刷品/喷绘/修改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07408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Logo_品牌名.ai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" y="2560320"/>
            <a:ext cx="628192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560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透明底PNG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21408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线上宣传/PPT/网页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07408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Logo_品牌名_透明底.png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" y="2880360"/>
            <a:ext cx="6281928" cy="32004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2880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白色底JPG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21408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快速预览/社交配图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07408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Logo_品牌名.jpg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" y="3200400"/>
            <a:ext cx="628192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单色稿(黑)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21408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黑白印刷/传真/票据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07408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Logo_品牌名_单色黑.png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9808" y="3520440"/>
            <a:ext cx="6281928" cy="32004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3520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反白稿(白)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21408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深色背景应用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07408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Logo_品牌名_反白.png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" y="4023360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注意：AI源文件由品牌总部保管，门店及合作方仅使用交付的PNG/JPG成品文件。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VI修改权限说明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71600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VI修改权限说明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2011680"/>
            <a:ext cx="109728" cy="54864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2011680"/>
            <a:ext cx="5916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1. 仅品牌总部有权调整VI规范，包括LOGO、色彩、字体、辅助图形等。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2743200"/>
            <a:ext cx="109728" cy="54864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2743200"/>
            <a:ext cx="5916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2. 各门店严格按照本手册执行，不得自行修改LOGO颜色/比例。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" y="3474720"/>
            <a:ext cx="109728" cy="54864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474720"/>
            <a:ext cx="5916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3. 特殊场景需适配的，须向品牌总部提交申请，由总部出具适配方案。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" y="4206240"/>
            <a:ext cx="109728" cy="548640"/>
          </a:xfrm>
          <a:prstGeom prst="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4206240"/>
            <a:ext cx="5916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4. 违规修改造成的品牌形象损失由门店自行承担。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5212080"/>
            <a:ext cx="6281928" cy="548640"/>
          </a:xfrm>
          <a:prstGeom prst="rect">
            <a:avLst>
              <a:gd name="adj" fmla="val 10000"/>
            </a:avLst>
          </a:prstGeom>
          <a:solidFill>
            <a:srgbClr val="FFF3E0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5257800"/>
            <a:ext cx="5916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5100"/>
                </a:solidFill>
              </a:rPr>
              <a:t>严格遵守VI规范是品牌建设的基石。统一=专业，随意修改=品牌稀释。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515868"/>
            <a:ext cx="6281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感谢观看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866644" y="4796028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70348"/>
            <a:ext cx="6281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</a:rPr>
              <a:t>陈记烧鹅店 · 品牌视觉识别系统 (VI) 规范手册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9317736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如有疑问，请联系 陈记烧鹅店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10597896"/>
            <a:ext cx="7562088" cy="9144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陈记烧鹅店 品牌视觉识别系统（VI）规范手册</dc:title>
  <dc:subject>陈记烧鹅店 VI 规范手册</dc:subject>
  <dc:creator>Brand Brain</dc:creator>
  <cp:lastModifiedBy>Brand Brain</cp:lastModifiedBy>
  <cp:revision>1</cp:revision>
  <dcterms:created xsi:type="dcterms:W3CDTF">2026-07-08T15:28:36Z</dcterms:created>
  <dcterms:modified xsi:type="dcterms:W3CDTF">2026-07-08T15:28:36Z</dcterms:modified>
</cp:coreProperties>
</file>